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1872000"/>
            <a:ext cx="61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spc="8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結び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96000"/>
            <a:ext cx="612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spc="8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両家顔合わせ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960000"/>
            <a:ext cx="61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spc="6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FAMILY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112000"/>
            <a:ext cx="61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spc="3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新郎 名前　×　新婦 名前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652000"/>
            <a:ext cx="61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spc="4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〇〇家　・　〇〇家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912000"/>
            <a:ext cx="612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300" b="0" spc="200">
                <a:solidFill>
                  <a:srgbClr val="2E2A2B"/>
                </a:solidFill>
                <a:latin typeface="游ゴシック"/>
                <a:ea typeface="游ゴシック"/>
                <a:cs typeface="游ゴシック"/>
              </a:rPr>
              <a:t>日　時　　20〇〇年〇月〇日（〇）　午前・午後〇時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spc="200">
                <a:solidFill>
                  <a:srgbClr val="2E2A2B"/>
                </a:solidFill>
                <a:latin typeface="游ゴシック"/>
                <a:ea typeface="游ゴシック"/>
                <a:cs typeface="游ゴシック"/>
              </a:rPr>
              <a:t>会　場　　会場名・お部屋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68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7A2E3A"/>
                </a:solidFill>
                <a:latin typeface="游ゴシック"/>
                <a:ea typeface="游ゴシック"/>
                <a:cs typeface="游ゴシック"/>
              </a:rPr>
              <a:t>01   ごあいさつ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990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080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ご挨拶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3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GREETING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015999"/>
            <a:ext cx="612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2E2A2B"/>
                </a:solidFill>
                <a:latin typeface="游ゴシック"/>
                <a:ea typeface="游ゴシック"/>
                <a:cs typeface="游ゴシック"/>
              </a:rPr>
              <a:t>本日はお忙しい中、両家の顔合わせにお集まりいただき、誠にありがとうございます。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（ここに、お集まりへの感謝と、この日を迎えた喜びを書きます。）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E2A2B"/>
                </a:solidFill>
                <a:latin typeface="游ゴシック"/>
                <a:ea typeface="游ゴシック"/>
                <a:cs typeface="游ゴシック"/>
              </a:rPr>
              <a:t>本日はどうぞお時間の許す限り、和やかにお過ごしいただけましたら幸いです。これからの両家のお付き合いも、末永くよろしくお願い申し上げます。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4752000"/>
            <a:ext cx="36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spc="2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当日の流れ　　FLOW OF THE DAY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0000" y="5094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0000" y="5292000"/>
            <a:ext cx="612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spc="100">
                <a:solidFill>
                  <a:srgbClr val="2E2A2B"/>
                </a:solidFill>
                <a:latin typeface="游ゴシック"/>
                <a:ea typeface="游ゴシック"/>
                <a:cs typeface="游ゴシック"/>
              </a:rPr>
              <a:t>始まりの挨拶　›　両家の紹介　›　観覧　›　食事　›　記念撮影　›　結びの挨拶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68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7A2E3A"/>
                </a:solidFill>
                <a:latin typeface="游ゴシック"/>
                <a:ea typeface="游ゴシック"/>
                <a:cs typeface="游ゴシック"/>
              </a:rPr>
              <a:t>02   プロフィール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990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080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二人のプロフィール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3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44000"/>
            <a:ext cx="27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4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GROOM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160000"/>
            <a:ext cx="27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新郎 氏名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700000"/>
            <a:ext cx="2736000" cy="50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ふりがな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ふりがな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生年月日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〇年〇月〇日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出身地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〇〇県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血液型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〇型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お仕事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職業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趣味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趣味・好きなこと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自己紹介・意気込み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4000" y="1944000"/>
            <a:ext cx="27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spc="4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BRIDE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4000" y="2160000"/>
            <a:ext cx="27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新婦 氏名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4000" y="2700000"/>
            <a:ext cx="2736000" cy="50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ふりがな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ふりがな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生年月日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〇年〇月〇日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出身地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〇〇県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血液型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〇型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お仕事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職業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趣味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趣味・好きなこと</a:t>
            </a:r>
          </a:p>
          <a:p>
            <a:pPr>
              <a:spcAft>
                <a:spcPts val="1100"/>
              </a:spcAft>
            </a:pPr>
            <a:r>
              <a:rPr sz="12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　</a:t>
            </a: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自己紹介・意気込み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80000" y="2015999"/>
            <a:ext cx="0" cy="5364001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68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7A2E3A"/>
                </a:solidFill>
                <a:latin typeface="游ゴシック"/>
                <a:ea typeface="游ゴシック"/>
                <a:cs typeface="游ゴシック"/>
              </a:rPr>
              <a:t>03   家族紹介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990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080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両家の家族紹介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3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OUR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980000"/>
            <a:ext cx="27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2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〇〇家（新郎側）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0000" y="2286000"/>
            <a:ext cx="2736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20000" y="2448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4068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父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6000" y="2448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6000" y="4068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896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6516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姉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6000" y="4896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6000" y="6516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兄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4000" y="1980000"/>
            <a:ext cx="2736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spc="2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〇〇家（新婦側）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04000" y="2286000"/>
            <a:ext cx="2736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04000" y="2448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4000" y="4068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父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80000" y="2448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0000" y="4068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母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4000" y="4896000"/>
            <a:ext cx="1260000" cy="1584000"/>
          </a:xfrm>
          <a:prstGeom prst="rect">
            <a:avLst/>
          </a:prstGeom>
          <a:noFill/>
          <a:ln w="9525">
            <a:solidFill>
              <a:srgbClr val="B98A6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写真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04000" y="6516000"/>
            <a:ext cx="126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spc="3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弟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8A6B"/>
                </a:solidFill>
                <a:latin typeface="游ゴシック"/>
                <a:ea typeface="游ゴシック"/>
                <a:cs typeface="游ゴシック"/>
              </a:rPr>
              <a:t>お名前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ひとこと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68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7A2E3A"/>
                </a:solidFill>
                <a:latin typeface="游ゴシック"/>
                <a:ea typeface="游ゴシック"/>
                <a:cs typeface="游ゴシック"/>
              </a:rPr>
              <a:t>04   ストーリー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990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080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二人の思い出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3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FROM OUR FIRST MEETING TO THE PROPOSAL</a:t>
            </a:r>
          </a:p>
        </p:txBody>
      </p:sp>
      <p:sp>
        <p:nvSpPr>
          <p:cNvPr id="7" name="Oval 6"/>
          <p:cNvSpPr/>
          <p:nvPr/>
        </p:nvSpPr>
        <p:spPr>
          <a:xfrm>
            <a:off x="720000" y="2069999"/>
            <a:ext cx="100800" cy="100800"/>
          </a:xfrm>
          <a:prstGeom prst="ellipse">
            <a:avLst/>
          </a:prstGeom>
          <a:solidFill>
            <a:srgbClr val="7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2000" y="2015999"/>
            <a:ext cx="586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spc="2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20〇〇年〇月　—　出会い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はじめて出会った場所・きっかけ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そのときの第一印象や、どんな出会いだったかを書きます。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720000" y="3527999"/>
            <a:ext cx="100800" cy="100800"/>
          </a:xfrm>
          <a:prstGeom prst="ellipse">
            <a:avLst/>
          </a:prstGeom>
          <a:solidFill>
            <a:srgbClr val="7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2000" y="3473999"/>
            <a:ext cx="586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spc="2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20〇〇年〇月　—　交際スタート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お付き合いが始まった日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告白のエピソードや、初デートの思い出など。</a:t>
            </a:r>
          </a:p>
        </p:txBody>
      </p:sp>
      <p:sp>
        <p:nvSpPr>
          <p:cNvPr id="11" name="Oval 10"/>
          <p:cNvSpPr/>
          <p:nvPr/>
        </p:nvSpPr>
        <p:spPr>
          <a:xfrm>
            <a:off x="720000" y="4985999"/>
            <a:ext cx="100800" cy="100800"/>
          </a:xfrm>
          <a:prstGeom prst="ellipse">
            <a:avLst/>
          </a:prstGeom>
          <a:solidFill>
            <a:srgbClr val="7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4931999"/>
            <a:ext cx="586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spc="2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20〇〇年〇月　—　思い出の出来事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旅行・記念日など心に残る出来事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二人の絆が深まったエピソードを。</a:t>
            </a:r>
          </a:p>
        </p:txBody>
      </p:sp>
      <p:sp>
        <p:nvSpPr>
          <p:cNvPr id="13" name="Oval 12"/>
          <p:cNvSpPr/>
          <p:nvPr/>
        </p:nvSpPr>
        <p:spPr>
          <a:xfrm>
            <a:off x="720000" y="6443999"/>
            <a:ext cx="100800" cy="100800"/>
          </a:xfrm>
          <a:prstGeom prst="ellipse">
            <a:avLst/>
          </a:prstGeom>
          <a:solidFill>
            <a:srgbClr val="7A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2000" y="6389999"/>
            <a:ext cx="5868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 spc="200">
                <a:solidFill>
                  <a:srgbClr val="B08D4C"/>
                </a:solidFill>
                <a:latin typeface="游ゴシック"/>
                <a:ea typeface="游ゴシック"/>
                <a:cs typeface="游ゴシック"/>
              </a:rPr>
              <a:t>20〇〇年〇月　—　プロポーズ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プロポーズの言葉・場所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どんなプロポーズだったか、その時の気持ちを書きます。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684000"/>
            <a:ext cx="36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7A2E3A"/>
                </a:solidFill>
                <a:latin typeface="游ゴシック"/>
                <a:ea typeface="游ゴシック"/>
                <a:cs typeface="游ゴシック"/>
              </a:rPr>
              <a:t>05   これから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20000" y="990000"/>
            <a:ext cx="6120000" cy="0"/>
          </a:xfrm>
          <a:prstGeom prst="bentConnector3">
            <a:avLst/>
          </a:prstGeom>
          <a:ln w="9525">
            <a:solidFill>
              <a:srgbClr val="E3D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1080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今後の予定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53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OUR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2088000"/>
            <a:ext cx="6120000" cy="1224000"/>
          </a:xfrm>
          <a:prstGeom prst="roundRect">
            <a:avLst/>
          </a:prstGeom>
          <a:noFill/>
          <a:ln w="9525">
            <a:solidFill>
              <a:srgbClr val="E3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2000" y="2412000"/>
            <a:ext cx="576000" cy="576000"/>
          </a:xfrm>
          <a:prstGeom prst="ellipse">
            <a:avLst/>
          </a:prstGeom>
          <a:noFill/>
          <a:ln w="12700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入籍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2304000"/>
            <a:ext cx="4896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入籍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20〇〇年〇月〇日 に入籍予定です。（記念日にちなんだ日など）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492000"/>
            <a:ext cx="6120000" cy="1224000"/>
          </a:xfrm>
          <a:prstGeom prst="roundRect">
            <a:avLst/>
          </a:prstGeom>
          <a:noFill/>
          <a:ln w="9525">
            <a:solidFill>
              <a:srgbClr val="E3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2000" y="3816000"/>
            <a:ext cx="576000" cy="576000"/>
          </a:xfrm>
          <a:prstGeom prst="ellipse">
            <a:avLst/>
          </a:prstGeom>
          <a:noFill/>
          <a:ln w="12700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新居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3708000"/>
            <a:ext cx="4896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新生活・新居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〇〇（エリア）で新生活をスタートします。（時期・住まいのことなど）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4896000"/>
            <a:ext cx="6120000" cy="1224000"/>
          </a:xfrm>
          <a:prstGeom prst="roundRect">
            <a:avLst/>
          </a:prstGeom>
          <a:noFill/>
          <a:ln w="9525">
            <a:solidFill>
              <a:srgbClr val="E3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2000" y="5220000"/>
            <a:ext cx="576000" cy="576000"/>
          </a:xfrm>
          <a:prstGeom prst="ellipse">
            <a:avLst/>
          </a:prstGeom>
          <a:noFill/>
          <a:ln w="12700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挙式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0" y="5112000"/>
            <a:ext cx="4896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結婚式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20〇〇年〇月頃、〇〇（会場）にて挙式予定です。（未定の場合は「検討中」でも）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0000" y="6300000"/>
            <a:ext cx="6120000" cy="1224000"/>
          </a:xfrm>
          <a:prstGeom prst="roundRect">
            <a:avLst/>
          </a:prstGeom>
          <a:noFill/>
          <a:ln w="9525">
            <a:solidFill>
              <a:srgbClr val="E3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2000" y="6624000"/>
            <a:ext cx="576000" cy="576000"/>
          </a:xfrm>
          <a:prstGeom prst="ellipse">
            <a:avLst/>
          </a:prstGeom>
          <a:noFill/>
          <a:ln w="12700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7A2E3A"/>
                </a:solidFill>
                <a:latin typeface="游明朝"/>
                <a:ea typeface="游明朝"/>
                <a:cs typeface="游明朝"/>
              </a:rPr>
              <a:t>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0" y="6516000"/>
            <a:ext cx="4896000" cy="86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spc="1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これからのこと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新婚旅行や、これからの二人の目標など、自由に書けます。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360000"/>
            <a:ext cx="6840000" cy="9972000"/>
          </a:xfrm>
          <a:prstGeom prst="rect">
            <a:avLst/>
          </a:prstGeom>
          <a:noFill/>
          <a:ln w="9525">
            <a:solidFill>
              <a:srgbClr val="D8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2160000"/>
            <a:ext cx="612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B08D4C"/>
                </a:solidFill>
                <a:latin typeface="游明朝"/>
                <a:ea typeface="游明朝"/>
                <a:cs typeface="游明朝"/>
              </a:rPr>
              <a:t>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024000"/>
            <a:ext cx="6120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spc="2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感謝をこめて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61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WITH GRATITUDE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4500000"/>
            <a:ext cx="540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B98A6B"/>
                </a:solidFill>
                <a:latin typeface="游明朝"/>
                <a:ea typeface="游明朝"/>
                <a:cs typeface="游明朝"/>
              </a:rPr>
              <a:t>（ここに、両家のご家族へ向けた感謝の言葉を書きます。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B98A6B"/>
                </a:solidFill>
                <a:latin typeface="游明朝"/>
                <a:ea typeface="游明朝"/>
                <a:cs typeface="游明朝"/>
              </a:rPr>
              <a:t>これまで育ててくださったことへの感謝と、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98A6B"/>
                </a:solidFill>
                <a:latin typeface="游明朝"/>
                <a:ea typeface="游明朝"/>
                <a:cs typeface="游明朝"/>
              </a:rPr>
              <a:t>これから家族として歩んでいく決意などを綴ります。）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7200000"/>
            <a:ext cx="61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spc="300">
                <a:solidFill>
                  <a:srgbClr val="2E2A2B"/>
                </a:solidFill>
                <a:latin typeface="游明朝"/>
                <a:ea typeface="游明朝"/>
                <a:cs typeface="游明朝"/>
              </a:rPr>
              <a:t>新郎 名前　・　新婦 名前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7560000"/>
            <a:ext cx="61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spc="300">
                <a:solidFill>
                  <a:srgbClr val="6B6260"/>
                </a:solidFill>
                <a:latin typeface="游ゴシック"/>
                <a:ea typeface="游ゴシック"/>
                <a:cs typeface="游ゴシック"/>
              </a:rPr>
              <a:t>20〇〇年〇月〇日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9576000"/>
            <a:ext cx="61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spc="400">
                <a:solidFill>
                  <a:srgbClr val="6B6260"/>
                </a:solidFill>
                <a:latin typeface="游明朝"/>
                <a:ea typeface="游明朝"/>
                <a:cs typeface="游明朝"/>
              </a:rPr>
              <a:t>本日は誠にありがとうございました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